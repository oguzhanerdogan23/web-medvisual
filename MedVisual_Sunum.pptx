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gradFill>
            <a:gsLst>
              <a:gs pos="0">
                <a:srgbClr val="2A3280"/>
              </a:gs>
              <a:gs pos="100000">
                <a:srgbClr val="00897B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1280160"/>
            <a:ext cx="4114800" cy="4114800"/>
          </a:xfrm>
          <a:prstGeom prst="ellipse">
            <a:avLst/>
          </a:prstGeom>
          <a:solidFill>
            <a:srgbClr val="4A5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4389120"/>
            <a:ext cx="2926080" cy="2926080"/>
          </a:xfrm>
          <a:prstGeom prst="ellipse">
            <a:avLst/>
          </a:prstGeom>
          <a:solidFill>
            <a:srgbClr val="12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86868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3F51B5"/>
                </a:solidFill>
                <a:latin typeface="Calibri"/>
              </a:rPr>
              <a:t>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058400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6600" b="1" i="0">
                <a:solidFill>
                  <a:srgbClr val="FFFFFF"/>
                </a:solidFill>
                <a:latin typeface="Calibri"/>
              </a:rPr>
              <a:t>MedVisual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611880"/>
            <a:ext cx="105156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200" b="0" i="0">
                <a:solidFill>
                  <a:srgbClr val="E9ECFF"/>
                </a:solidFill>
                <a:latin typeface="Calibri"/>
              </a:rPr>
              <a:t>Yapay Zeka Destekli Görsel Öğrenme ve Flashcard Ekosistemi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4224528"/>
            <a:ext cx="3108960" cy="54864"/>
          </a:xfrm>
          <a:prstGeom prst="rect">
            <a:avLst/>
          </a:prstGeom>
          <a:solidFill>
            <a:srgbClr val="7CE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343400"/>
            <a:ext cx="105156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50" b="1" i="0">
                <a:solidFill>
                  <a:srgbClr val="C9F0E9"/>
                </a:solidFill>
                <a:latin typeface="Calibri"/>
              </a:rPr>
              <a:t>Web + Mobil — Tek Ekosistem, Tek Veri Kaynağı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10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897880"/>
            <a:ext cx="7772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Fırat Üniversitesi · Teknoloji Fakültesi · Yazılım Mühendisliği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236208"/>
            <a:ext cx="77724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i="0">
                <a:solidFill>
                  <a:srgbClr val="9FC9F0"/>
                </a:solidFill>
                <a:latin typeface="Calibri"/>
              </a:rPr>
              <a:t>215541014@firat.edu.tr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6492240"/>
            <a:ext cx="105156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50" b="0" i="1">
                <a:solidFill>
                  <a:srgbClr val="B8BED6"/>
                </a:solidFill>
                <a:latin typeface="Calibri"/>
              </a:rPr>
              <a:t>Web Tasarım ve Programlama  &amp;  Fonksiyonel Programlama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600" b="1" i="0">
                <a:solidFill>
                  <a:srgbClr val="1A1F36"/>
                </a:solidFill>
                <a:latin typeface="Calibri"/>
              </a:rPr>
              <a:t>Problem ve Çözüm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938528" y="946403"/>
            <a:ext cx="914400" cy="27432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5216" y="1380744"/>
            <a:ext cx="5318607" cy="4937760"/>
          </a:xfrm>
          <a:prstGeom prst="roundRect">
            <a:avLst/>
          </a:prstGeom>
          <a:solidFill>
            <a:srgbClr val="D7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5318607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>
            <a:off x="548640" y="1325880"/>
            <a:ext cx="5318607" cy="777240"/>
          </a:xfrm>
          <a:prstGeom prst="round2SameRect">
            <a:avLst/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90472"/>
            <a:ext cx="4678527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  <a:latin typeface="Calibri"/>
              </a:rPr>
              <a:t>⚠ 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4541367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•  </a:t>
            </a:r>
            <a:r>
              <a:rPr sz="1500">
                <a:solidFill>
                  <a:srgbClr val="1A1F36"/>
                </a:solidFill>
                <a:latin typeface="Calibri"/>
              </a:rPr>
              <a:t>Tıp öğrencileri 600+ sayfalık yoğun PDF'lerle çalışıyor.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•  </a:t>
            </a:r>
            <a:r>
              <a:rPr sz="1500">
                <a:solidFill>
                  <a:srgbClr val="1A1F36"/>
                </a:solidFill>
                <a:latin typeface="Calibri"/>
              </a:rPr>
              <a:t>Bilgi kartlarını elle hazırlamak çok yavaş ve yorucu.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•  </a:t>
            </a:r>
            <a:r>
              <a:rPr sz="1500">
                <a:solidFill>
                  <a:srgbClr val="1A1F36"/>
                </a:solidFill>
                <a:latin typeface="Calibri"/>
              </a:rPr>
              <a:t>Anatomi büyük ölçüde görsel bir bilim; ancak görsel hafıza çoğu dijital araçta hiç kullanılmıyor.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•  </a:t>
            </a:r>
            <a:r>
              <a:rPr sz="1500">
                <a:solidFill>
                  <a:srgbClr val="1A1F36"/>
                </a:solidFill>
                <a:latin typeface="Calibri"/>
              </a:rPr>
              <a:t>Farklı cihazlardaki notlar ve kartlar dağınık, senkron değil.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61023" y="1380744"/>
            <a:ext cx="5318607" cy="4937760"/>
          </a:xfrm>
          <a:prstGeom prst="roundRect">
            <a:avLst/>
          </a:prstGeom>
          <a:solidFill>
            <a:srgbClr val="D7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24447" y="1325880"/>
            <a:ext cx="5318607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>
            <a:off x="6324447" y="1325880"/>
            <a:ext cx="5318607" cy="777240"/>
          </a:xfrm>
          <a:prstGeom prst="round2SameRect">
            <a:avLst/>
          </a:prstGeom>
          <a:solidFill>
            <a:srgbClr val="E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4487" y="1490472"/>
            <a:ext cx="4678527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000" b="1" i="0">
                <a:solidFill>
                  <a:srgbClr val="006B60"/>
                </a:solidFill>
                <a:latin typeface="Calibri"/>
              </a:rPr>
              <a:t>✓  Çözüm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5927" y="2286000"/>
            <a:ext cx="4541367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00897B"/>
                </a:solidFill>
                <a:latin typeface="Calibri"/>
              </a:rPr>
              <a:t>•  </a:t>
            </a:r>
            <a:r>
              <a:rPr sz="1500">
                <a:solidFill>
                  <a:srgbClr val="1A1F36"/>
                </a:solidFill>
                <a:latin typeface="Calibri"/>
              </a:rPr>
              <a:t>PDF yükle → motor otomatik olarak görselli bilgi kartı ve quiz üretir.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00897B"/>
                </a:solidFill>
                <a:latin typeface="Calibri"/>
              </a:rPr>
              <a:t>•  </a:t>
            </a:r>
            <a:r>
              <a:rPr sz="1500">
                <a:solidFill>
                  <a:srgbClr val="1A1F36"/>
                </a:solidFill>
                <a:latin typeface="Calibri"/>
              </a:rPr>
              <a:t>DIP, PDF'teki anatomik figürleri ayıklayıp doğru terimle eşler.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00897B"/>
                </a:solidFill>
                <a:latin typeface="Calibri"/>
              </a:rPr>
              <a:t>•  </a:t>
            </a:r>
            <a:r>
              <a:rPr sz="1500">
                <a:solidFill>
                  <a:srgbClr val="1A1F36"/>
                </a:solidFill>
                <a:latin typeface="Calibri"/>
              </a:rPr>
              <a:t>Aralıklı tekrar (SM-2) ile en verimli zamanda çalış.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00897B"/>
                </a:solidFill>
                <a:latin typeface="Calibri"/>
              </a:rPr>
              <a:t>•  </a:t>
            </a:r>
            <a:r>
              <a:rPr sz="1500">
                <a:solidFill>
                  <a:srgbClr val="1A1F36"/>
                </a:solidFill>
                <a:latin typeface="Calibri"/>
              </a:rPr>
              <a:t>Web ve mobil tek hesapta senkron; çevrimdışı erişim destekli.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885535" y="3474720"/>
            <a:ext cx="420624" cy="640080"/>
          </a:xfrm>
          <a:prstGeom prst="rightArrow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600" b="1" i="0">
                <a:solidFill>
                  <a:srgbClr val="1A1F36"/>
                </a:solidFill>
                <a:latin typeface="Calibri"/>
              </a:rPr>
              <a:t>Sistem Mimarisi — Single Source of Truth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938528" y="946403"/>
            <a:ext cx="914400" cy="27432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114903" y="1380744"/>
            <a:ext cx="6035040" cy="914400"/>
          </a:xfrm>
          <a:prstGeom prst="roundRect">
            <a:avLst/>
          </a:prstGeom>
          <a:solidFill>
            <a:srgbClr val="D7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78327" y="1325880"/>
            <a:ext cx="6035040" cy="914400"/>
          </a:xfrm>
          <a:prstGeom prst="roundRect">
            <a:avLst/>
          </a:prstGeom>
          <a:gradFill>
            <a:gsLst>
              <a:gs pos="0">
                <a:srgbClr val="3F51B5"/>
              </a:gs>
              <a:gs pos="100000">
                <a:srgbClr val="303F9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78327" y="1417320"/>
            <a:ext cx="603504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Supabase (Bulut)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78327" y="1847088"/>
            <a:ext cx="60350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300" b="0" i="0">
                <a:solidFill>
                  <a:srgbClr val="D7DCFF"/>
                </a:solidFill>
                <a:latin typeface="Calibri"/>
              </a:rPr>
              <a:t>PostgreSQL  ·  Auth  ·  Storage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77559" y="2240280"/>
            <a:ext cx="36576" cy="41148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63543" y="2706624"/>
            <a:ext cx="4937760" cy="868680"/>
          </a:xfrm>
          <a:prstGeom prst="roundRect">
            <a:avLst/>
          </a:prstGeom>
          <a:solidFill>
            <a:srgbClr val="D7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26967" y="2651760"/>
            <a:ext cx="4937760" cy="868680"/>
          </a:xfrm>
          <a:prstGeom prst="roundRect">
            <a:avLst/>
          </a:prstGeom>
          <a:gradFill>
            <a:gsLst>
              <a:gs pos="0">
                <a:srgbClr val="009A8A"/>
              </a:gs>
              <a:gs pos="100000">
                <a:srgbClr val="006B60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6967" y="2743200"/>
            <a:ext cx="49377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Merkezi API (FastAPI)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6967" y="3127248"/>
            <a:ext cx="493776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200" b="0" i="0">
                <a:solidFill>
                  <a:srgbClr val="CFEFEA"/>
                </a:solidFill>
                <a:latin typeface="Calibri"/>
              </a:rPr>
              <a:t>RESTful  ·  asenkron iş kuyruğu  ·  tek otorite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92527" y="3657600"/>
            <a:ext cx="7406640" cy="36576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77559" y="3520440"/>
            <a:ext cx="36576" cy="18288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74239" y="3694176"/>
            <a:ext cx="36576" cy="420623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8903" y="4169663"/>
            <a:ext cx="3200400" cy="1143000"/>
          </a:xfrm>
          <a:prstGeom prst="roundRect">
            <a:avLst/>
          </a:prstGeom>
          <a:solidFill>
            <a:srgbClr val="D7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2327" y="4114800"/>
            <a:ext cx="32004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2327" y="4114800"/>
            <a:ext cx="128016" cy="1143000"/>
          </a:xfrm>
          <a:prstGeom prst="round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2367" y="4315968"/>
            <a:ext cx="27432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700" b="1" i="0">
                <a:solidFill>
                  <a:srgbClr val="3F51B5"/>
                </a:solidFill>
                <a:latin typeface="Calibri"/>
              </a:rPr>
              <a:t>Web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2367" y="4773168"/>
            <a:ext cx="27432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50" b="0" i="0">
                <a:solidFill>
                  <a:srgbClr val="5B6177"/>
                </a:solidFill>
                <a:latin typeface="Calibri"/>
              </a:rPr>
              <a:t>React (TypeScript)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77559" y="3694176"/>
            <a:ext cx="36576" cy="420623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32223" y="4169663"/>
            <a:ext cx="3200400" cy="1143000"/>
          </a:xfrm>
          <a:prstGeom prst="roundRect">
            <a:avLst/>
          </a:prstGeom>
          <a:solidFill>
            <a:srgbClr val="D7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495647" y="4114800"/>
            <a:ext cx="32004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95647" y="4114800"/>
            <a:ext cx="128016" cy="1143000"/>
          </a:xfrm>
          <a:prstGeom prst="roundRect">
            <a:avLst/>
          </a:prstGeom>
          <a:solidFill>
            <a:srgbClr val="2A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15687" y="4315968"/>
            <a:ext cx="27432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700" b="1" i="0">
                <a:solidFill>
                  <a:srgbClr val="2A6FDB"/>
                </a:solidFill>
                <a:latin typeface="Calibri"/>
              </a:rPr>
              <a:t>Mobil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15687" y="4773168"/>
            <a:ext cx="27432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50" b="0" i="0">
                <a:solidFill>
                  <a:srgbClr val="5B6177"/>
                </a:solidFill>
                <a:latin typeface="Calibri"/>
              </a:rPr>
              <a:t>Flutter (Dart)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80879" y="3694176"/>
            <a:ext cx="36576" cy="420623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35543" y="4169663"/>
            <a:ext cx="3200400" cy="1143000"/>
          </a:xfrm>
          <a:prstGeom prst="roundRect">
            <a:avLst/>
          </a:prstGeom>
          <a:solidFill>
            <a:srgbClr val="D7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98967" y="4114800"/>
            <a:ext cx="32004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98967" y="4114800"/>
            <a:ext cx="128016" cy="1143000"/>
          </a:xfrm>
          <a:prstGeom prst="roundRect">
            <a:avLst/>
          </a:prstGeom>
          <a:solidFill>
            <a:srgbClr val="6A4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19007" y="4315968"/>
            <a:ext cx="27432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700" b="1" i="0">
                <a:solidFill>
                  <a:srgbClr val="6A4CA8"/>
                </a:solidFill>
                <a:latin typeface="Calibri"/>
              </a:rPr>
              <a:t>DIP Motoru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19007" y="4773168"/>
            <a:ext cx="27432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50" b="0" i="0">
                <a:solidFill>
                  <a:srgbClr val="5B6177"/>
                </a:solidFill>
                <a:latin typeface="Calibri"/>
              </a:rPr>
              <a:t>Python / OpenCV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806440"/>
            <a:ext cx="11094415" cy="6400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897880"/>
            <a:ext cx="10545775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350" b="1" i="0">
                <a:solidFill>
                  <a:srgbClr val="303F9F"/>
                </a:solidFill>
                <a:latin typeface="Calibri"/>
              </a:rPr>
              <a:t>Hem web hem mobil aynı merkezi veriyi konuşur — cihazlar arası tam senkron, tek doğruluk kaynağı.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600" b="1" i="0">
                <a:solidFill>
                  <a:srgbClr val="1A1F36"/>
                </a:solidFill>
                <a:latin typeface="Calibri"/>
              </a:rPr>
              <a:t>Teknoloji Yığını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938528" y="946403"/>
            <a:ext cx="914400" cy="27432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5216" y="1426464"/>
            <a:ext cx="3423818" cy="4983480"/>
          </a:xfrm>
          <a:prstGeom prst="roundRect">
            <a:avLst/>
          </a:prstGeom>
          <a:solidFill>
            <a:srgbClr val="D7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3423818" cy="4983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>
            <a:off x="548640" y="1371600"/>
            <a:ext cx="3423818" cy="868680"/>
          </a:xfrm>
          <a:prstGeom prst="round2Same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91056"/>
            <a:ext cx="3240938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650" b="1" i="0">
                <a:solidFill>
                  <a:srgbClr val="FFFFFF"/>
                </a:solidFill>
                <a:latin typeface="Calibri"/>
              </a:rPr>
              <a:t>🌐 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23160"/>
            <a:ext cx="287517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3F51B5"/>
                </a:solidFill>
                <a:latin typeface="Calibri"/>
              </a:rPr>
              <a:t>•  </a:t>
            </a:r>
            <a:r>
              <a:rPr sz="1450">
                <a:solidFill>
                  <a:srgbClr val="1A1F36"/>
                </a:solidFill>
                <a:latin typeface="Calibri"/>
              </a:rPr>
              <a:t>React + Vite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3F51B5"/>
                </a:solidFill>
                <a:latin typeface="Calibri"/>
              </a:rPr>
              <a:t>•  </a:t>
            </a:r>
            <a:r>
              <a:rPr sz="1450">
                <a:solidFill>
                  <a:srgbClr val="1A1F36"/>
                </a:solidFill>
                <a:latin typeface="Calibri"/>
              </a:rPr>
              <a:t>TypeScript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3F51B5"/>
                </a:solidFill>
                <a:latin typeface="Calibri"/>
              </a:rPr>
              <a:t>•  </a:t>
            </a:r>
            <a:r>
              <a:rPr sz="1450">
                <a:solidFill>
                  <a:srgbClr val="1A1F36"/>
                </a:solidFill>
                <a:latin typeface="Calibri"/>
              </a:rPr>
              <a:t>Tailwind CSS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3F51B5"/>
                </a:solidFill>
                <a:latin typeface="Calibri"/>
              </a:rPr>
              <a:t>•  </a:t>
            </a:r>
            <a:r>
              <a:rPr sz="1450">
                <a:solidFill>
                  <a:srgbClr val="1A1F36"/>
                </a:solidFill>
                <a:latin typeface="Calibri"/>
              </a:rPr>
              <a:t>TanStack Query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3F51B5"/>
                </a:solidFill>
                <a:latin typeface="Calibri"/>
              </a:rPr>
              <a:t>•  </a:t>
            </a:r>
            <a:r>
              <a:rPr sz="1450">
                <a:solidFill>
                  <a:srgbClr val="1A1F36"/>
                </a:solidFill>
                <a:latin typeface="Calibri"/>
              </a:rPr>
              <a:t>FastAPI (REST)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3F51B5"/>
                </a:solidFill>
                <a:latin typeface="Calibri"/>
              </a:rPr>
              <a:t>•  </a:t>
            </a:r>
            <a:r>
              <a:rPr sz="1450">
                <a:solidFill>
                  <a:srgbClr val="1A1F36"/>
                </a:solidFill>
                <a:latin typeface="Calibri"/>
              </a:rPr>
              <a:t>Supabase / 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0514" y="1426464"/>
            <a:ext cx="3423818" cy="4983480"/>
          </a:xfrm>
          <a:prstGeom prst="roundRect">
            <a:avLst/>
          </a:prstGeom>
          <a:solidFill>
            <a:srgbClr val="D7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3938" y="1371600"/>
            <a:ext cx="3423818" cy="4983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>
            <a:off x="4383938" y="1371600"/>
            <a:ext cx="3423818" cy="868680"/>
          </a:xfrm>
          <a:prstGeom prst="round2SameRect">
            <a:avLst/>
          </a:prstGeom>
          <a:solidFill>
            <a:srgbClr val="2A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5378" y="1591056"/>
            <a:ext cx="3240938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650" b="1" i="0">
                <a:solidFill>
                  <a:srgbClr val="FFFFFF"/>
                </a:solidFill>
                <a:latin typeface="Calibri"/>
              </a:rPr>
              <a:t>📱  Mobil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3978" y="2423160"/>
            <a:ext cx="287517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2A6FDB"/>
                </a:solidFill>
                <a:latin typeface="Calibri"/>
              </a:rPr>
              <a:t>•  </a:t>
            </a:r>
            <a:r>
              <a:rPr sz="1450">
                <a:solidFill>
                  <a:srgbClr val="1A1F36"/>
                </a:solidFill>
                <a:latin typeface="Calibri"/>
              </a:rPr>
              <a:t>Flutter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2A6FDB"/>
                </a:solidFill>
                <a:latin typeface="Calibri"/>
              </a:rPr>
              <a:t>•  </a:t>
            </a:r>
            <a:r>
              <a:rPr sz="1450">
                <a:solidFill>
                  <a:srgbClr val="1A1F36"/>
                </a:solidFill>
                <a:latin typeface="Calibri"/>
              </a:rPr>
              <a:t>Dart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2A6FDB"/>
                </a:solidFill>
                <a:latin typeface="Calibri"/>
              </a:rPr>
              <a:t>•  </a:t>
            </a:r>
            <a:r>
              <a:rPr sz="1450">
                <a:solidFill>
                  <a:srgbClr val="1A1F36"/>
                </a:solidFill>
                <a:latin typeface="Calibri"/>
              </a:rPr>
              <a:t>BLoC (durum yönetimi)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2A6FDB"/>
                </a:solidFill>
                <a:latin typeface="Calibri"/>
              </a:rPr>
              <a:t>•  </a:t>
            </a:r>
            <a:r>
              <a:rPr sz="1450">
                <a:solidFill>
                  <a:srgbClr val="1A1F36"/>
                </a:solidFill>
                <a:latin typeface="Calibri"/>
              </a:rPr>
              <a:t>freezed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2A6FDB"/>
                </a:solidFill>
                <a:latin typeface="Calibri"/>
              </a:rPr>
              <a:t>•  </a:t>
            </a:r>
            <a:r>
              <a:rPr sz="1450">
                <a:solidFill>
                  <a:srgbClr val="1A1F36"/>
                </a:solidFill>
                <a:latin typeface="Calibri"/>
              </a:rPr>
              <a:t>immutability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2A6FDB"/>
                </a:solidFill>
                <a:latin typeface="Calibri"/>
              </a:rPr>
              <a:t>•  </a:t>
            </a:r>
            <a:r>
              <a:rPr sz="1450">
                <a:solidFill>
                  <a:srgbClr val="1A1F36"/>
                </a:solidFill>
                <a:latin typeface="Calibri"/>
              </a:rPr>
              <a:t>saf fonksiyonlar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55812" y="1426464"/>
            <a:ext cx="3423818" cy="4983480"/>
          </a:xfrm>
          <a:prstGeom prst="roundRect">
            <a:avLst/>
          </a:prstGeom>
          <a:solidFill>
            <a:srgbClr val="D7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19236" y="1371600"/>
            <a:ext cx="3423818" cy="4983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>
            <a:off x="8219236" y="1371600"/>
            <a:ext cx="3423818" cy="868680"/>
          </a:xfrm>
          <a:prstGeom prst="round2Same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0676" y="1591056"/>
            <a:ext cx="3240938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650" b="1" i="0">
                <a:solidFill>
                  <a:srgbClr val="FFFFFF"/>
                </a:solidFill>
                <a:latin typeface="Calibri"/>
              </a:rPr>
              <a:t>🔬  Görüntü İşleme (DIP)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9276" y="2423160"/>
            <a:ext cx="287517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00897B"/>
                </a:solidFill>
                <a:latin typeface="Calibri"/>
              </a:rPr>
              <a:t>•  </a:t>
            </a:r>
            <a:r>
              <a:rPr sz="1450">
                <a:solidFill>
                  <a:srgbClr val="1A1F36"/>
                </a:solidFill>
                <a:latin typeface="Calibri"/>
              </a:rPr>
              <a:t>Python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00897B"/>
                </a:solidFill>
                <a:latin typeface="Calibri"/>
              </a:rPr>
              <a:t>•  </a:t>
            </a:r>
            <a:r>
              <a:rPr sz="1450">
                <a:solidFill>
                  <a:srgbClr val="1A1F36"/>
                </a:solidFill>
                <a:latin typeface="Calibri"/>
              </a:rPr>
              <a:t>OpenCV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00897B"/>
                </a:solidFill>
                <a:latin typeface="Calibri"/>
              </a:rPr>
              <a:t>•  </a:t>
            </a:r>
            <a:r>
              <a:rPr sz="1450">
                <a:solidFill>
                  <a:srgbClr val="1A1F36"/>
                </a:solidFill>
                <a:latin typeface="Calibri"/>
              </a:rPr>
              <a:t>Tesseract OCR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00897B"/>
                </a:solidFill>
                <a:latin typeface="Calibri"/>
              </a:rPr>
              <a:t>•  </a:t>
            </a:r>
            <a:r>
              <a:rPr sz="1450">
                <a:solidFill>
                  <a:srgbClr val="1A1F36"/>
                </a:solidFill>
                <a:latin typeface="Calibri"/>
              </a:rPr>
              <a:t>Otsu segmentasyonu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00897B"/>
                </a:solidFill>
                <a:latin typeface="Calibri"/>
              </a:rPr>
              <a:t>•  </a:t>
            </a:r>
            <a:r>
              <a:rPr sz="1450">
                <a:solidFill>
                  <a:srgbClr val="1A1F36"/>
                </a:solidFill>
                <a:latin typeface="Calibri"/>
              </a:rPr>
              <a:t>morfolojik işlemler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00897B"/>
                </a:solidFill>
                <a:latin typeface="Calibri"/>
              </a:rPr>
              <a:t>•  </a:t>
            </a:r>
            <a:r>
              <a:rPr sz="1450">
                <a:solidFill>
                  <a:srgbClr val="1A1F36"/>
                </a:solidFill>
                <a:latin typeface="Calibri"/>
              </a:rPr>
              <a:t>figür–terim eşleme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600" b="1" i="0">
                <a:solidFill>
                  <a:srgbClr val="1A1F36"/>
                </a:solidFill>
                <a:latin typeface="Calibri"/>
              </a:rPr>
              <a:t>⭐ Görselli Bilgi Kartı — İmza Özellik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938528" y="946403"/>
            <a:ext cx="914400" cy="27432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5216" y="1380744"/>
            <a:ext cx="5029200" cy="5029200"/>
          </a:xfrm>
          <a:prstGeom prst="roundRect">
            <a:avLst/>
          </a:prstGeom>
          <a:solidFill>
            <a:srgbClr val="D7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50292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3891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700" b="1" i="0">
                <a:solidFill>
                  <a:srgbClr val="303F9F"/>
                </a:solidFill>
                <a:latin typeface="Calibri"/>
              </a:rPr>
              <a:t>Görsel nasıl karta gelir?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048255"/>
            <a:ext cx="3749039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50" b="1" i="0">
                <a:solidFill>
                  <a:srgbClr val="1A1F36"/>
                </a:solidFill>
                <a:latin typeface="Calibri"/>
              </a:rPr>
              <a:t>DIP figürleri ayıklar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395727"/>
            <a:ext cx="3749039" cy="5943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177"/>
                </a:solidFill>
                <a:latin typeface="Calibri"/>
              </a:rPr>
              <a:t>PDF sayfasındaki anatomik figürleri Otsu eşikleme + morfoloji ile arka plandan ayırır.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127248"/>
            <a:ext cx="457200" cy="45720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072384"/>
            <a:ext cx="3749039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50" b="1" i="0">
                <a:solidFill>
                  <a:srgbClr val="1A1F36"/>
                </a:solidFill>
                <a:latin typeface="Calibri"/>
              </a:rPr>
              <a:t>En yakın figürü önerir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19856"/>
            <a:ext cx="3749039" cy="5943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177"/>
                </a:solidFill>
                <a:latin typeface="Calibri"/>
              </a:rPr>
              <a:t>Latince/anatomik terime en uygun figürleri bulur — birden çok aday sunar.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151376"/>
            <a:ext cx="457200" cy="45720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096512"/>
            <a:ext cx="3749039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50" b="1" i="0">
                <a:solidFill>
                  <a:srgbClr val="1A1F36"/>
                </a:solidFill>
                <a:latin typeface="Calibri"/>
              </a:rPr>
              <a:t>Kullanıcı seçer / kırpar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443984"/>
            <a:ext cx="3749039" cy="5943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177"/>
                </a:solidFill>
                <a:latin typeface="Calibri"/>
              </a:rPr>
              <a:t>Doğru görsel seçilir, gerekirse kırpılır.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5175504"/>
            <a:ext cx="457200" cy="45720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120640"/>
            <a:ext cx="3749039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50" b="1" i="0">
                <a:solidFill>
                  <a:srgbClr val="1A1F36"/>
                </a:solidFill>
                <a:latin typeface="Calibri"/>
              </a:rPr>
              <a:t>Karta kalıcı eklenir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468112"/>
            <a:ext cx="3749039" cy="5943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177"/>
                </a:solidFill>
                <a:latin typeface="Calibri"/>
              </a:rPr>
              <a:t>Görsel kartın ön/arka yüzüne kalıcı olarak yerleşir.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6605" y="1307592"/>
            <a:ext cx="2196868" cy="4718304"/>
          </a:xfrm>
          <a:prstGeom prst="roundRect">
            <a:avLst/>
          </a:prstGeom>
          <a:solidFill>
            <a:srgbClr val="D7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70029" y="1252728"/>
            <a:ext cx="2196868" cy="47183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04-gorselli-k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181" y="1325880"/>
            <a:ext cx="2050564" cy="4572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70029" y="6007608"/>
            <a:ext cx="2196868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150" b="0" i="1">
                <a:solidFill>
                  <a:srgbClr val="5B6177"/>
                </a:solidFill>
                <a:latin typeface="Calibri"/>
              </a:rPr>
              <a:t>Ön yüz — görsel + soru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47773" y="1307592"/>
            <a:ext cx="2196868" cy="4718304"/>
          </a:xfrm>
          <a:prstGeom prst="roundRect">
            <a:avLst/>
          </a:prstGeom>
          <a:solidFill>
            <a:srgbClr val="D7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211197" y="1252728"/>
            <a:ext cx="2196868" cy="47183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05-kart-cev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4349" y="1325880"/>
            <a:ext cx="2050564" cy="4572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211197" y="6007608"/>
            <a:ext cx="2196868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150" b="0" i="1">
                <a:solidFill>
                  <a:srgbClr val="5B6177"/>
                </a:solidFill>
                <a:latin typeface="Calibri"/>
              </a:rPr>
              <a:t>Arka yüz — cevap + SM-2 notları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600" b="1" i="0">
                <a:solidFill>
                  <a:srgbClr val="1A1F36"/>
                </a:solidFill>
                <a:latin typeface="Calibri"/>
              </a:rPr>
              <a:t>Web Arayüzü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938528" y="946403"/>
            <a:ext cx="914400" cy="27432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12064" y="2468403"/>
            <a:ext cx="3600602" cy="2305240"/>
          </a:xfrm>
          <a:prstGeom prst="roundRect">
            <a:avLst/>
          </a:prstGeom>
          <a:solidFill>
            <a:srgbClr val="D7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2413539"/>
            <a:ext cx="3600602" cy="2305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86691"/>
            <a:ext cx="3454298" cy="21589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5488" y="4755356"/>
            <a:ext cx="3600602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150" b="0" i="1">
                <a:solidFill>
                  <a:srgbClr val="5B6177"/>
                </a:solidFill>
                <a:latin typeface="Calibri"/>
              </a:rPr>
              <a:t>Panel — istatistikler ve doküman yönetimi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2122" y="2468403"/>
            <a:ext cx="3600602" cy="2305240"/>
          </a:xfrm>
          <a:prstGeom prst="roundRect">
            <a:avLst/>
          </a:prstGeom>
          <a:solidFill>
            <a:srgbClr val="D7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5546" y="2413539"/>
            <a:ext cx="3600602" cy="2305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2-uret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698" y="2486691"/>
            <a:ext cx="3454298" cy="21589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95546" y="4755356"/>
            <a:ext cx="3600602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150" b="0" i="1">
                <a:solidFill>
                  <a:srgbClr val="5B6177"/>
                </a:solidFill>
                <a:latin typeface="Calibri"/>
              </a:rPr>
              <a:t>Üretim sihirbazı — sayfa aralığı &amp; Gemini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2180" y="2468403"/>
            <a:ext cx="3600602" cy="2305240"/>
          </a:xfrm>
          <a:prstGeom prst="roundRect">
            <a:avLst/>
          </a:prstGeom>
          <a:solidFill>
            <a:srgbClr val="D7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15604" y="2413539"/>
            <a:ext cx="3600602" cy="2305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3-des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8756" y="2486691"/>
            <a:ext cx="3454298" cy="215893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115604" y="4755356"/>
            <a:ext cx="3600602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150" b="0" i="1">
                <a:solidFill>
                  <a:srgbClr val="5B6177"/>
                </a:solidFill>
                <a:latin typeface="Calibri"/>
              </a:rPr>
              <a:t>Görselli deste — kart listesi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600" b="1" i="0">
                <a:solidFill>
                  <a:srgbClr val="1A1F36"/>
                </a:solidFill>
                <a:latin typeface="Calibri"/>
              </a:rPr>
              <a:t>Mobil Uygulama (Flutter)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2A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938528" y="946403"/>
            <a:ext cx="914400" cy="27432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3519" y="1353312"/>
            <a:ext cx="2360913" cy="5084064"/>
          </a:xfrm>
          <a:prstGeom prst="roundRect">
            <a:avLst/>
          </a:prstGeom>
          <a:solidFill>
            <a:srgbClr val="D7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76943" y="1298448"/>
            <a:ext cx="2360913" cy="5084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095" y="1371600"/>
            <a:ext cx="2214609" cy="4937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6943" y="6419088"/>
            <a:ext cx="2360913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150" b="0" i="1">
                <a:solidFill>
                  <a:srgbClr val="5B6177"/>
                </a:solidFill>
                <a:latin typeface="Calibri"/>
              </a:rPr>
              <a:t>Panel — istatistik &amp; ilerleme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6759" y="1353312"/>
            <a:ext cx="2360913" cy="5084064"/>
          </a:xfrm>
          <a:prstGeom prst="roundRect">
            <a:avLst/>
          </a:prstGeom>
          <a:solidFill>
            <a:srgbClr val="D7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40183" y="1298448"/>
            <a:ext cx="2360913" cy="5084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2-ayar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335" y="1371600"/>
            <a:ext cx="2214609" cy="4937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940183" y="6419088"/>
            <a:ext cx="2360913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150" b="0" i="1">
                <a:solidFill>
                  <a:srgbClr val="5B6177"/>
                </a:solidFill>
                <a:latin typeface="Calibri"/>
              </a:rPr>
              <a:t>Ayarlar — profil &amp; görünüm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94576" y="1517904"/>
            <a:ext cx="4785055" cy="4572000"/>
          </a:xfrm>
          <a:prstGeom prst="roundRect">
            <a:avLst/>
          </a:prstGeom>
          <a:solidFill>
            <a:srgbClr val="D7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0" y="1463040"/>
            <a:ext cx="4785055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1691640"/>
            <a:ext cx="4053535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b="1" i="0">
                <a:solidFill>
                  <a:srgbClr val="2A6FDB"/>
                </a:solidFill>
                <a:latin typeface="Calibri"/>
              </a:rPr>
              <a:t>Fonksiyonel yaklaşımla Flutter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2331720"/>
            <a:ext cx="400781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450" b="1">
                <a:solidFill>
                  <a:srgbClr val="2A6FDB"/>
                </a:solidFill>
                <a:latin typeface="Calibri"/>
              </a:rPr>
              <a:t>•  </a:t>
            </a:r>
            <a:r>
              <a:rPr sz="1450">
                <a:solidFill>
                  <a:srgbClr val="1A1F36"/>
                </a:solidFill>
                <a:latin typeface="Calibri"/>
              </a:rPr>
              <a:t>Immutability — freezed ile değişmez veri modelleri.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450" b="1">
                <a:solidFill>
                  <a:srgbClr val="2A6FDB"/>
                </a:solidFill>
                <a:latin typeface="Calibri"/>
              </a:rPr>
              <a:t>•  </a:t>
            </a:r>
            <a:r>
              <a:rPr sz="1450">
                <a:solidFill>
                  <a:srgbClr val="1A1F36"/>
                </a:solidFill>
                <a:latin typeface="Calibri"/>
              </a:rPr>
              <a:t>Saf fonksiyonlar — yan etkisiz iş mantığı.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450" b="1">
                <a:solidFill>
                  <a:srgbClr val="2A6FDB"/>
                </a:solidFill>
                <a:latin typeface="Calibri"/>
              </a:rPr>
              <a:t>•  </a:t>
            </a:r>
            <a:r>
              <a:rPr sz="1450">
                <a:solidFill>
                  <a:srgbClr val="1A1F36"/>
                </a:solidFill>
                <a:latin typeface="Calibri"/>
              </a:rPr>
              <a:t>Deklaratif UI — durum → arayüz, tahmin edilebilir.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450" b="1">
                <a:solidFill>
                  <a:srgbClr val="2A6FDB"/>
                </a:solidFill>
                <a:latin typeface="Calibri"/>
              </a:rPr>
              <a:t>•  </a:t>
            </a:r>
            <a:r>
              <a:rPr sz="1450">
                <a:solidFill>
                  <a:srgbClr val="1A1F36"/>
                </a:solidFill>
                <a:latin typeface="Calibri"/>
              </a:rPr>
              <a:t>BLoC — olay/durum akışıyla net mimari.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450" b="1">
                <a:solidFill>
                  <a:srgbClr val="2A6FDB"/>
                </a:solidFill>
                <a:latin typeface="Calibri"/>
              </a:rPr>
              <a:t>•  </a:t>
            </a:r>
            <a:r>
              <a:rPr sz="1450">
                <a:solidFill>
                  <a:srgbClr val="1A1F36"/>
                </a:solidFill>
                <a:latin typeface="Calibri"/>
              </a:rPr>
              <a:t>Çevrimdışı önbellek + senkron kuyruğu — internetsiz de çalışır.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450" b="1">
                <a:solidFill>
                  <a:srgbClr val="2A6FDB"/>
                </a:solidFill>
                <a:latin typeface="Calibri"/>
              </a:rPr>
              <a:t>•  </a:t>
            </a:r>
            <a:r>
              <a:rPr sz="1450">
                <a:solidFill>
                  <a:srgbClr val="1A1F36"/>
                </a:solidFill>
                <a:latin typeface="Calibri"/>
              </a:rPr>
              <a:t>Görselli kartlar mobilde de tam destekli.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600" b="1" i="0">
                <a:solidFill>
                  <a:srgbClr val="1A1F36"/>
                </a:solidFill>
                <a:latin typeface="Calibri"/>
              </a:rPr>
              <a:t>Aralıklı Tekrar (SM-2) — Fonksiyonel Programlama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938528" y="946403"/>
            <a:ext cx="914400" cy="27432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5216" y="1426464"/>
            <a:ext cx="5669280" cy="4983480"/>
          </a:xfrm>
          <a:prstGeom prst="roundRect">
            <a:avLst/>
          </a:prstGeom>
          <a:solidFill>
            <a:srgbClr val="D7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669280" cy="4983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72768"/>
            <a:ext cx="493776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b="1" i="0">
                <a:solidFill>
                  <a:srgbClr val="006B60"/>
                </a:solidFill>
                <a:latin typeface="Calibri"/>
              </a:rPr>
              <a:t>Saf fonksiyon olarak SM-2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49377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5B6177"/>
                </a:solidFill>
                <a:latin typeface="Calibri"/>
              </a:rPr>
              <a:t>Bir kartın notu (Tekrar/Zor/İyi/Kolay) ile mevcut durumu girer; bir sonraki tekrar tarihini ve kolaylık faktörünü döndürür. Girdi → çıktı; gizli durum yok.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63240"/>
            <a:ext cx="4892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1400" b="1">
                <a:solidFill>
                  <a:srgbClr val="00897B"/>
                </a:solidFill>
                <a:latin typeface="Calibri"/>
              </a:rPr>
              <a:t>•  </a:t>
            </a:r>
            <a:r>
              <a:rPr sz="1400">
                <a:solidFill>
                  <a:srgbClr val="1A1F36"/>
                </a:solidFill>
                <a:latin typeface="Calibri"/>
              </a:rPr>
              <a:t>Yan etkisiz — aynı girdi her zaman aynı çıktıyı verir.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1400" b="1">
                <a:solidFill>
                  <a:srgbClr val="00897B"/>
                </a:solidFill>
                <a:latin typeface="Calibri"/>
              </a:rPr>
              <a:t>•  </a:t>
            </a:r>
            <a:r>
              <a:rPr sz="1400">
                <a:solidFill>
                  <a:srgbClr val="1A1F36"/>
                </a:solidFill>
                <a:latin typeface="Calibri"/>
              </a:rPr>
              <a:t>Çift dilli golden testler — Python ve Dart birebir aynı sonucu verir.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1400" b="1">
                <a:solidFill>
                  <a:srgbClr val="00897B"/>
                </a:solidFill>
                <a:latin typeface="Calibri"/>
              </a:rPr>
              <a:t>•  </a:t>
            </a:r>
            <a:r>
              <a:rPr sz="1400">
                <a:solidFill>
                  <a:srgbClr val="1A1F36"/>
                </a:solidFill>
                <a:latin typeface="Calibri"/>
              </a:rPr>
              <a:t>Tek algoritma, iki dil — Python (API, otorite) ve Dart (mobil).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1400" b="1">
                <a:solidFill>
                  <a:srgbClr val="00897B"/>
                </a:solidFill>
                <a:latin typeface="Calibri"/>
              </a:rPr>
              <a:t>•  </a:t>
            </a:r>
            <a:r>
              <a:rPr sz="1400">
                <a:solidFill>
                  <a:srgbClr val="1A1F36"/>
                </a:solidFill>
                <a:latin typeface="Calibri"/>
              </a:rPr>
              <a:t>Deterministik — planlamada sürpriz yok.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1400" b="1">
                <a:solidFill>
                  <a:srgbClr val="00897B"/>
                </a:solidFill>
                <a:latin typeface="Calibri"/>
              </a:rPr>
              <a:t>•  </a:t>
            </a:r>
            <a:r>
              <a:rPr sz="1400">
                <a:solidFill>
                  <a:srgbClr val="1A1F36"/>
                </a:solidFill>
                <a:latin typeface="Calibri"/>
              </a:rPr>
              <a:t>Saf çekirdek, kabukta yan etki — fonksiyonel mimarinin özü.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2093" y="1353312"/>
            <a:ext cx="2381419" cy="5129784"/>
          </a:xfrm>
          <a:prstGeom prst="roundRect">
            <a:avLst/>
          </a:prstGeom>
          <a:solidFill>
            <a:srgbClr val="D7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45517" y="1298448"/>
            <a:ext cx="2381419" cy="51297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45517" y="6464808"/>
            <a:ext cx="2381419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150" b="0" i="1">
                <a:solidFill>
                  <a:srgbClr val="5B6177"/>
                </a:solidFill>
                <a:latin typeface="Calibri"/>
              </a:rPr>
              <a:t>Serbest mod — notlama: Tekrar / Zor / İyi / Kolay (SM-2)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8669" y="1371600"/>
            <a:ext cx="2235115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600" b="1" i="0">
                <a:solidFill>
                  <a:srgbClr val="1A1F36"/>
                </a:solidFill>
                <a:latin typeface="Calibri"/>
              </a:rPr>
              <a:t>Öne Çıkan Özellikler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938528" y="946403"/>
            <a:ext cx="914400" cy="27432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5216" y="1517904"/>
            <a:ext cx="3383279" cy="1115568"/>
          </a:xfrm>
          <a:prstGeom prst="roundRect">
            <a:avLst/>
          </a:prstGeom>
          <a:solidFill>
            <a:srgbClr val="D7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3383279" cy="11155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700784"/>
            <a:ext cx="640080" cy="6400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latin typeface="Calibri"/>
              </a:rPr>
              <a:t>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627632"/>
            <a:ext cx="228600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50" b="1" i="0">
                <a:solidFill>
                  <a:srgbClr val="1A1F36"/>
                </a:solidFill>
                <a:latin typeface="Calibri"/>
              </a:rPr>
              <a:t>Çok formatlı dışa aktarma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029968"/>
            <a:ext cx="22860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050" b="0" i="0">
                <a:solidFill>
                  <a:srgbClr val="5B6177"/>
                </a:solidFill>
                <a:latin typeface="Calibri"/>
              </a:rPr>
              <a:t>Anki .apkg, PDF, CSV/TSV/JSON/TXT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" y="2743200"/>
            <a:ext cx="3383279" cy="1115568"/>
          </a:xfrm>
          <a:prstGeom prst="roundRect">
            <a:avLst/>
          </a:prstGeom>
          <a:solidFill>
            <a:srgbClr val="D7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688336"/>
            <a:ext cx="3383279" cy="11155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2926080"/>
            <a:ext cx="640080" cy="6400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latin typeface="Calibri"/>
              </a:rPr>
              <a:t>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852928"/>
            <a:ext cx="228600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50" b="1" i="0">
                <a:solidFill>
                  <a:srgbClr val="1A1F36"/>
                </a:solidFill>
                <a:latin typeface="Calibri"/>
              </a:rPr>
              <a:t>Karanlık mod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55264"/>
            <a:ext cx="22860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050" b="0" i="0">
                <a:solidFill>
                  <a:srgbClr val="5B6177"/>
                </a:solidFill>
                <a:latin typeface="Calibri"/>
              </a:rPr>
              <a:t>Göz yormayan tema, web &amp; mobil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" y="3968495"/>
            <a:ext cx="3383279" cy="1115568"/>
          </a:xfrm>
          <a:prstGeom prst="roundRect">
            <a:avLst/>
          </a:prstGeom>
          <a:solidFill>
            <a:srgbClr val="D7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3913631"/>
            <a:ext cx="3383279" cy="11155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4151375"/>
            <a:ext cx="640080" cy="6400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latin typeface="Calibri"/>
              </a:rPr>
              <a:t>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078223"/>
            <a:ext cx="228600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50" b="1" i="0">
                <a:solidFill>
                  <a:srgbClr val="1A1F36"/>
                </a:solidFill>
                <a:latin typeface="Calibri"/>
              </a:rPr>
              <a:t>Quiz / Test sistemi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480559"/>
            <a:ext cx="22860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050" b="0" i="0">
                <a:solidFill>
                  <a:srgbClr val="5B6177"/>
                </a:solidFill>
                <a:latin typeface="Calibri"/>
              </a:rPr>
              <a:t>Otomatik üretilen çoktan seçmeli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" y="5193791"/>
            <a:ext cx="3383279" cy="1115568"/>
          </a:xfrm>
          <a:prstGeom prst="roundRect">
            <a:avLst/>
          </a:prstGeom>
          <a:solidFill>
            <a:srgbClr val="D7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5138927"/>
            <a:ext cx="3383279" cy="11155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5376671"/>
            <a:ext cx="640080" cy="6400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latin typeface="Calibri"/>
              </a:rPr>
              <a:t>🖼️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303519"/>
            <a:ext cx="228600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50" b="1" i="0">
                <a:solidFill>
                  <a:srgbClr val="1A1F36"/>
                </a:solidFill>
                <a:latin typeface="Calibri"/>
              </a:rPr>
              <a:t>Toplu otomatik görsel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5705855"/>
            <a:ext cx="22860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050" b="0" i="0">
                <a:solidFill>
                  <a:srgbClr val="5B6177"/>
                </a:solidFill>
                <a:latin typeface="Calibri"/>
              </a:rPr>
              <a:t>Tüm kartlara tek tıkla görsel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34255" y="1517904"/>
            <a:ext cx="3383279" cy="1115568"/>
          </a:xfrm>
          <a:prstGeom prst="roundRect">
            <a:avLst/>
          </a:prstGeom>
          <a:solidFill>
            <a:srgbClr val="D7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297679" y="1463040"/>
            <a:ext cx="3383279" cy="11155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480559" y="1700784"/>
            <a:ext cx="640080" cy="6400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latin typeface="Calibri"/>
              </a:rPr>
              <a:t>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7799" y="1627632"/>
            <a:ext cx="228600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50" b="1" i="0">
                <a:solidFill>
                  <a:srgbClr val="1A1F36"/>
                </a:solidFill>
                <a:latin typeface="Calibri"/>
              </a:rPr>
              <a:t>Serbest çalışma modu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799" y="2029968"/>
            <a:ext cx="22860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050" b="0" i="0">
                <a:solidFill>
                  <a:srgbClr val="5B6177"/>
                </a:solidFill>
                <a:latin typeface="Calibri"/>
              </a:rPr>
              <a:t>Zamanlama etkilenmeden sınırsız pratik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34255" y="2743200"/>
            <a:ext cx="3383279" cy="1115568"/>
          </a:xfrm>
          <a:prstGeom prst="roundRect">
            <a:avLst/>
          </a:prstGeom>
          <a:solidFill>
            <a:srgbClr val="D7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297679" y="2688336"/>
            <a:ext cx="3383279" cy="11155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480559" y="2926080"/>
            <a:ext cx="640080" cy="6400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latin typeface="Calibri"/>
              </a:rPr>
              <a:t>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57799" y="2852928"/>
            <a:ext cx="228600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50" b="1" i="0">
                <a:solidFill>
                  <a:srgbClr val="1A1F36"/>
                </a:solidFill>
                <a:latin typeface="Calibri"/>
              </a:rPr>
              <a:t>Çevrimdışı mod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57799" y="3255264"/>
            <a:ext cx="22860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050" b="0" i="0">
                <a:solidFill>
                  <a:srgbClr val="5B6177"/>
                </a:solidFill>
                <a:latin typeface="Calibri"/>
              </a:rPr>
              <a:t>İndirilen içerik internetsiz açılır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34255" y="3968495"/>
            <a:ext cx="3383279" cy="1115568"/>
          </a:xfrm>
          <a:prstGeom prst="roundRect">
            <a:avLst/>
          </a:prstGeom>
          <a:solidFill>
            <a:srgbClr val="D7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297679" y="3913631"/>
            <a:ext cx="3383279" cy="11155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480559" y="4151375"/>
            <a:ext cx="640080" cy="6400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latin typeface="Calibri"/>
              </a:rPr>
              <a:t>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57799" y="4078223"/>
            <a:ext cx="228600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50" b="1" i="0">
                <a:solidFill>
                  <a:srgbClr val="1A1F36"/>
                </a:solidFill>
                <a:latin typeface="Calibri"/>
              </a:rPr>
              <a:t>Çalışma ısı haritası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57799" y="4480559"/>
            <a:ext cx="22860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050" b="0" i="0">
                <a:solidFill>
                  <a:srgbClr val="5B6177"/>
                </a:solidFill>
                <a:latin typeface="Calibri"/>
              </a:rPr>
              <a:t>Günlük takvim + çalışma serisi (streak)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34255" y="5193791"/>
            <a:ext cx="3383279" cy="1115568"/>
          </a:xfrm>
          <a:prstGeom prst="roundRect">
            <a:avLst/>
          </a:prstGeom>
          <a:solidFill>
            <a:srgbClr val="D7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297679" y="5138927"/>
            <a:ext cx="3383279" cy="11155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480559" y="5376671"/>
            <a:ext cx="640080" cy="6400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latin typeface="Calibri"/>
              </a:rPr>
              <a:t>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57799" y="5303519"/>
            <a:ext cx="228600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50" b="1" i="0">
                <a:solidFill>
                  <a:srgbClr val="1A1F36"/>
                </a:solidFill>
                <a:latin typeface="Calibri"/>
              </a:rPr>
              <a:t>Anlık senkron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57799" y="5705855"/>
            <a:ext cx="22860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050" b="0" i="0">
                <a:solidFill>
                  <a:srgbClr val="5B6177"/>
                </a:solidFill>
                <a:latin typeface="Calibri"/>
              </a:rPr>
              <a:t>Tek hesap, tüm cihazlar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964423" y="1769649"/>
            <a:ext cx="3788359" cy="2422588"/>
          </a:xfrm>
          <a:prstGeom prst="roundRect">
            <a:avLst/>
          </a:prstGeom>
          <a:solidFill>
            <a:srgbClr val="D7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927848" y="1714785"/>
            <a:ext cx="3788359" cy="24225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07-karanli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787937"/>
            <a:ext cx="3642055" cy="2276284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927848" y="4173950"/>
            <a:ext cx="3788359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150" b="0" i="1">
                <a:solidFill>
                  <a:srgbClr val="5B6177"/>
                </a:solidFill>
                <a:latin typeface="Calibri"/>
              </a:rPr>
              <a:t>Karanlık mod — Panel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993227" y="4050791"/>
            <a:ext cx="3730752" cy="2386584"/>
          </a:xfrm>
          <a:prstGeom prst="roundRect">
            <a:avLst/>
          </a:prstGeom>
          <a:solidFill>
            <a:srgbClr val="D7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956651" y="3995928"/>
            <a:ext cx="3730752" cy="23865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05-qui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803" y="4069080"/>
            <a:ext cx="3584448" cy="224028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956651" y="6419088"/>
            <a:ext cx="3730752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150" b="0" i="1">
                <a:solidFill>
                  <a:srgbClr val="5B6177"/>
                </a:solidFill>
                <a:latin typeface="Calibri"/>
              </a:rPr>
              <a:t>Quiz oynatıcı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600" b="1" i="0">
                <a:solidFill>
                  <a:srgbClr val="1A1F36"/>
                </a:solidFill>
                <a:latin typeface="Calibri"/>
              </a:rPr>
              <a:t>Senkronizasyon (SSOT) Kanıtı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938528" y="946403"/>
            <a:ext cx="914400" cy="27432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19" y="1536192"/>
            <a:ext cx="6291072" cy="3986784"/>
          </a:xfrm>
          <a:prstGeom prst="roundRect">
            <a:avLst/>
          </a:prstGeom>
          <a:solidFill>
            <a:srgbClr val="D7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4943" y="1481328"/>
            <a:ext cx="6291072" cy="39867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5" y="1554480"/>
            <a:ext cx="6144768" cy="3840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4943" y="5504688"/>
            <a:ext cx="6291072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150" b="0" i="1">
                <a:solidFill>
                  <a:srgbClr val="5B6177"/>
                </a:solidFill>
                <a:latin typeface="Calibri"/>
              </a:rPr>
              <a:t>Web — Panel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00584" y="1399032"/>
            <a:ext cx="2319902" cy="4992624"/>
          </a:xfrm>
          <a:prstGeom prst="roundRect">
            <a:avLst/>
          </a:prstGeom>
          <a:solidFill>
            <a:srgbClr val="D7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64008" y="1344168"/>
            <a:ext cx="2319902" cy="4992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1-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7160" y="1417320"/>
            <a:ext cx="2173598" cy="4846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64008" y="6373368"/>
            <a:ext cx="2319902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150" b="0" i="1">
                <a:solidFill>
                  <a:srgbClr val="5B6177"/>
                </a:solidFill>
                <a:latin typeface="Calibri"/>
              </a:rPr>
              <a:t>Mobil — Panel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989320"/>
            <a:ext cx="6400800" cy="502920"/>
          </a:xfrm>
          <a:prstGeom prst="roundRect">
            <a:avLst/>
          </a:prstGeom>
          <a:solidFill>
            <a:srgbClr val="E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053328"/>
            <a:ext cx="6217920" cy="3840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500" b="1" i="0">
                <a:solidFill>
                  <a:srgbClr val="006B60"/>
                </a:solidFill>
                <a:latin typeface="Calibri"/>
              </a:rPr>
              <a:t>Aynı hesap, aynı veri, anında senkron.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600" b="1" i="0">
                <a:solidFill>
                  <a:srgbClr val="1A1F36"/>
                </a:solidFill>
                <a:latin typeface="Calibri"/>
              </a:rPr>
              <a:t>Ders Eşlemesi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938528" y="946403"/>
            <a:ext cx="914400" cy="27432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5216" y="1517904"/>
            <a:ext cx="5318607" cy="4663440"/>
          </a:xfrm>
          <a:prstGeom prst="roundRect">
            <a:avLst/>
          </a:prstGeom>
          <a:solidFill>
            <a:srgbClr val="D7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5318607" cy="4663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>
            <a:off x="548640" y="1463040"/>
            <a:ext cx="5318607" cy="914400"/>
          </a:xfrm>
          <a:prstGeom prst="round2Same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00784"/>
            <a:ext cx="4678527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Web Tasarım ve Programlama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4587087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00" b="1" i="0">
                <a:solidFill>
                  <a:srgbClr val="303F9F"/>
                </a:solidFill>
                <a:latin typeface="Calibri"/>
              </a:rPr>
              <a:t>Full-stack istemci–sunucu mimarisi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54680"/>
            <a:ext cx="4541367" cy="2743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450" b="1">
                <a:solidFill>
                  <a:srgbClr val="3F51B5"/>
                </a:solidFill>
                <a:latin typeface="Calibri"/>
              </a:rPr>
              <a:t>•  </a:t>
            </a:r>
            <a:r>
              <a:rPr sz="1450">
                <a:solidFill>
                  <a:srgbClr val="1A1F36"/>
                </a:solidFill>
                <a:latin typeface="Calibri"/>
              </a:rPr>
              <a:t>React tabanlı SPA istemci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450" b="1">
                <a:solidFill>
                  <a:srgbClr val="3F51B5"/>
                </a:solidFill>
                <a:latin typeface="Calibri"/>
              </a:rPr>
              <a:t>•  </a:t>
            </a:r>
            <a:r>
              <a:rPr sz="1450">
                <a:solidFill>
                  <a:srgbClr val="1A1F36"/>
                </a:solidFill>
                <a:latin typeface="Calibri"/>
              </a:rPr>
              <a:t>FastAPI ile RESTful API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450" b="1">
                <a:solidFill>
                  <a:srgbClr val="3F51B5"/>
                </a:solidFill>
                <a:latin typeface="Calibri"/>
              </a:rPr>
              <a:t>•  </a:t>
            </a:r>
            <a:r>
              <a:rPr sz="1450">
                <a:solidFill>
                  <a:srgbClr val="1A1F36"/>
                </a:solidFill>
                <a:latin typeface="Calibri"/>
              </a:rPr>
              <a:t>İlişkisel PostgreSQL veritabanı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450" b="1">
                <a:solidFill>
                  <a:srgbClr val="3F51B5"/>
                </a:solidFill>
                <a:latin typeface="Calibri"/>
              </a:rPr>
              <a:t>•  </a:t>
            </a:r>
            <a:r>
              <a:rPr sz="1450">
                <a:solidFill>
                  <a:srgbClr val="1A1F36"/>
                </a:solidFill>
                <a:latin typeface="Calibri"/>
              </a:rPr>
              <a:t>Asenkron iş kuyruğu / uzun işlemler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450" b="1">
                <a:solidFill>
                  <a:srgbClr val="3F51B5"/>
                </a:solidFill>
                <a:latin typeface="Calibri"/>
              </a:rPr>
              <a:t>•  </a:t>
            </a:r>
            <a:r>
              <a:rPr sz="1450">
                <a:solidFill>
                  <a:srgbClr val="1A1F36"/>
                </a:solidFill>
                <a:latin typeface="Calibri"/>
              </a:rPr>
              <a:t>Auth, oturum ve yetkilendirme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61023" y="1517904"/>
            <a:ext cx="5318607" cy="4663440"/>
          </a:xfrm>
          <a:prstGeom prst="roundRect">
            <a:avLst/>
          </a:prstGeom>
          <a:solidFill>
            <a:srgbClr val="D7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24447" y="1463040"/>
            <a:ext cx="5318607" cy="4663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6324447" y="1463040"/>
            <a:ext cx="5318607" cy="914400"/>
          </a:xfrm>
          <a:prstGeom prst="round2Same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44487" y="1700784"/>
            <a:ext cx="4678527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Fonksiyonel Programlama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0207" y="2560320"/>
            <a:ext cx="4587087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00" b="1" i="0">
                <a:solidFill>
                  <a:srgbClr val="006B60"/>
                </a:solidFill>
                <a:latin typeface="Calibri"/>
              </a:rPr>
              <a:t>Flutter ile fonksiyonel ilkeler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5927" y="3154680"/>
            <a:ext cx="4541367" cy="2743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450" b="1">
                <a:solidFill>
                  <a:srgbClr val="00897B"/>
                </a:solidFill>
                <a:latin typeface="Calibri"/>
              </a:rPr>
              <a:t>•  </a:t>
            </a:r>
            <a:r>
              <a:rPr sz="1450">
                <a:solidFill>
                  <a:srgbClr val="1A1F36"/>
                </a:solidFill>
                <a:latin typeface="Calibri"/>
              </a:rPr>
              <a:t>Immutability — freezed değişmez modeller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450" b="1">
                <a:solidFill>
                  <a:srgbClr val="00897B"/>
                </a:solidFill>
                <a:latin typeface="Calibri"/>
              </a:rPr>
              <a:t>•  </a:t>
            </a:r>
            <a:r>
              <a:rPr sz="1450">
                <a:solidFill>
                  <a:srgbClr val="1A1F36"/>
                </a:solidFill>
                <a:latin typeface="Calibri"/>
              </a:rPr>
              <a:t>Saf fonksiyonlar — SM-2 algoritması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450" b="1">
                <a:solidFill>
                  <a:srgbClr val="00897B"/>
                </a:solidFill>
                <a:latin typeface="Calibri"/>
              </a:rPr>
              <a:t>•  </a:t>
            </a:r>
            <a:r>
              <a:rPr sz="1450">
                <a:solidFill>
                  <a:srgbClr val="1A1F36"/>
                </a:solidFill>
                <a:latin typeface="Calibri"/>
              </a:rPr>
              <a:t>Deklaratif UI — durum → arayüz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450" b="1">
                <a:solidFill>
                  <a:srgbClr val="00897B"/>
                </a:solidFill>
                <a:latin typeface="Calibri"/>
              </a:rPr>
              <a:t>•  </a:t>
            </a:r>
            <a:r>
              <a:rPr sz="1450">
                <a:solidFill>
                  <a:srgbClr val="1A1F36"/>
                </a:solidFill>
                <a:latin typeface="Calibri"/>
              </a:rPr>
              <a:t>BLoC — olay/durum akışı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450" b="1">
                <a:solidFill>
                  <a:srgbClr val="00897B"/>
                </a:solidFill>
                <a:latin typeface="Calibri"/>
              </a:rPr>
              <a:t>•  </a:t>
            </a:r>
            <a:r>
              <a:rPr sz="1450">
                <a:solidFill>
                  <a:srgbClr val="1A1F36"/>
                </a:solidFill>
                <a:latin typeface="Calibri"/>
              </a:rPr>
              <a:t>Yan etkisiz, test edilebilir çekirdek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gradFill>
            <a:gsLst>
              <a:gs pos="0">
                <a:srgbClr val="006B60"/>
              </a:gs>
              <a:gs pos="100000">
                <a:srgbClr val="2A3280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4206240"/>
            <a:ext cx="3657600" cy="3657600"/>
          </a:xfrm>
          <a:prstGeom prst="ellipse">
            <a:avLst/>
          </a:prstGeom>
          <a:solidFill>
            <a:srgbClr val="12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592927" y="1371600"/>
            <a:ext cx="100584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600" b="1">
                <a:solidFill>
                  <a:srgbClr val="3F51B5"/>
                </a:solidFill>
                <a:latin typeface="Calibri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10362895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MedVisual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11880"/>
            <a:ext cx="9448495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900" b="0" i="0">
                <a:solidFill>
                  <a:srgbClr val="DDE6FF"/>
                </a:solidFill>
                <a:latin typeface="Calibri"/>
              </a:rPr>
              <a:t>Görsel hafızayı tıp eğitimine taşıyan tam entegre ekosistem.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41367" y="4617720"/>
            <a:ext cx="3108960" cy="54864"/>
          </a:xfrm>
          <a:prstGeom prst="rect">
            <a:avLst/>
          </a:prstGeom>
          <a:solidFill>
            <a:srgbClr val="7CE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92040"/>
            <a:ext cx="10362895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Teşekkürler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32120"/>
            <a:ext cx="10362895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400" b="0" i="0">
                <a:solidFill>
                  <a:srgbClr val="BFE9E2"/>
                </a:solidFill>
                <a:latin typeface="Calibri"/>
              </a:rPr>
              <a:t>215541014@firat.edu.tr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